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46" r:id="rId2"/>
    <p:sldId id="535" r:id="rId3"/>
    <p:sldId id="618" r:id="rId4"/>
    <p:sldId id="619" r:id="rId5"/>
    <p:sldId id="620" r:id="rId6"/>
    <p:sldId id="622" r:id="rId7"/>
    <p:sldId id="623" r:id="rId8"/>
    <p:sldId id="621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17A8B-86BD-4FF7-9562-8AEF43952DEE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22B5D-C2BE-4637-AE6E-20C4454E837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061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8E93DF-EC4A-7C45-AB6A-FC63BC432F2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59217-6940-B9F1-CEC0-F5CE46077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A6FBF4-195A-3474-962D-C46666352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2A5DF-F772-1DCA-BE6C-27C8D7B65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253487-0F10-A0E6-ED53-1E19AAF6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EC20F8-89B4-908E-CB7B-296EFBBDA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90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67213-36E4-1E13-FAAF-3E7B8325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4F1AB2-A30C-7217-2FB1-5E4E7DD97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8A82AF-C536-5DB1-576E-6E3AED2DE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52737E-AEC2-DF8C-9218-57765225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15A21C-219D-ED49-DF5A-03435455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670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4BD0E-EB5D-E2BB-456B-C2FAC7FD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60E0BD-F8C7-8668-E1EB-6677FEF54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32EC0F-ED80-748A-007E-D0DD7CA1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43EEE3-9FF3-19BC-6441-79CE3709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8CDB5C-74A1-28B6-78D8-6BD6D3DF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23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D2A38-6607-05A1-53F2-38056BED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C08FE8-0F75-5D3F-1FE0-A145302D1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BEE91A-D705-4F35-8DBD-27CD47CB4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5DB6C0-CE49-6C72-FB98-95110EDC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054D27-DDE9-E07C-ADE9-0B22BF8B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98007E-5680-1EB9-6009-72FABC62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344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1B0DC-71B2-B0D0-1677-C43A5345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FFD49E-E7AA-74F2-D41A-8ABBD786C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35CD3B-6AF7-BD46-EE14-772E1B366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67029C-ED51-A50B-C082-C968A39F2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4A7501F-FC8C-167F-41C6-4447B82D3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049B1F0-5E6C-1B9C-946F-D377E66D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247EC0E-4D97-79AF-EEE1-D95B9619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E3122C-55D4-439B-FFF6-21016676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670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F5011-D34E-4963-EA0A-A11487728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B82941-B638-E186-0AAA-4D26FF22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2A1FF16-1676-8E0C-1D79-ECF9FA0CF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A74007F-803E-88D2-EAFF-F23EEE70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51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2E756C-6E60-1B96-6D5C-2D34EE61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E4827C-0C85-72EE-E90E-F99C06BB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9103FD-9EEC-5008-8CFD-2A26ED66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147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22619-44A0-01C4-E825-5AADF1D91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CB3973-1CB7-4860-E6AB-CD953CC61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AA0452-2FC3-2EF8-38AB-1DCE3D6F2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8836EC-96A0-5636-97D5-B09EED5F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99B8D2-4760-18C1-075E-CA3CCD00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5E919D-2552-34E4-2C32-74C691736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277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77D81-EB6C-629A-4A58-978DDF297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60951F5-F656-8914-E711-C4A9BA8CF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F13F45-8774-1BF2-D40D-7C563AA4A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7F5B96-9B2C-3042-C884-B682CA9D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4C9DCA-9DE6-41ED-8EA7-14C56700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0B42A5-C7FF-A85C-97EC-189FC4144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386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7ACF5-D7A6-55EE-1F2F-3E7869774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42BBD0-F887-BBE6-8E59-01CA09E8B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F76BC5-A8D4-C12C-D7A3-86D664B3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E90845-23C2-931D-732C-37C82B07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EBE326-45EF-562F-65B5-4683E845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2960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9EB91C-6775-D3F4-25ED-CE834BF1D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1E8CB3-A4C8-0875-585F-5493E351E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B66726-96E1-6D99-B50E-12C74DFD5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538516-783F-ACE0-90E4-AB5188BD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EFB9E5-9864-E243-7D48-50136004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5469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92DFA2-7EEB-8C00-E73B-389E1BA79C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96462" y="6289500"/>
            <a:ext cx="3743940" cy="365125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A3564EC-CE50-1549-B5F0-E1519DE3E6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720" y="3076506"/>
            <a:ext cx="9131476" cy="840230"/>
          </a:xfrm>
        </p:spPr>
        <p:txBody>
          <a:bodyPr wrap="square" lIns="0" anchor="b" anchorCtr="0">
            <a:sp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0BA1EB2-0EC6-804A-B029-2483E6FB35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719" y="3940166"/>
            <a:ext cx="9131475" cy="523220"/>
          </a:xfrm>
        </p:spPr>
        <p:txBody>
          <a:bodyPr wrap="square" lIns="0">
            <a:sp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8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274FB34-318A-7EC2-D2EE-4682179F2B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02" y="586154"/>
            <a:ext cx="640514" cy="38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8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-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65833-E42A-E620-7D83-55DACDE251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F9A05-AD0B-20A1-596D-C0BA3D1F17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5CA19-9DC3-0948-B147-46516DBE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B56554-52F1-D18F-5827-F007C7E9F5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300" y="1176338"/>
            <a:ext cx="5668963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AB646E-8298-41D3-BEB1-D7F0A7609C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1738" y="1176338"/>
            <a:ext cx="5668962" cy="472598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0773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36402-0D38-2FE6-DABB-84869F8B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5F2C0-30F8-DAE1-A01A-A77FC537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828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AE0AB9-B0D4-D06C-6900-7A614B5D1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C9A711-00A5-C51C-A2A0-34DF9D7A7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0E50BB-4FA1-D02E-FE51-743B4A2FF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929E7-6502-4628-9530-D1D033C9EA65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103FFA-C7BE-1731-6C97-9622B5CAB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FEFA63-0983-6CD6-06A7-33FFEC9F0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EF0B7-736A-4990-B172-E04FAE722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545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11.sv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8.png"/><Relationship Id="rId18" Type="http://schemas.openxmlformats.org/officeDocument/2006/relationships/image" Target="../media/image31.svg"/><Relationship Id="rId3" Type="http://schemas.openxmlformats.org/officeDocument/2006/relationships/image" Target="../media/image24.svg"/><Relationship Id="rId21" Type="http://schemas.openxmlformats.org/officeDocument/2006/relationships/image" Target="../media/image15.png"/><Relationship Id="rId7" Type="http://schemas.openxmlformats.org/officeDocument/2006/relationships/image" Target="../media/image20.svg"/><Relationship Id="rId12" Type="http://schemas.openxmlformats.org/officeDocument/2006/relationships/image" Target="../media/image27.svg"/><Relationship Id="rId17" Type="http://schemas.openxmlformats.org/officeDocument/2006/relationships/image" Target="../media/image30.png"/><Relationship Id="rId25" Type="http://schemas.openxmlformats.org/officeDocument/2006/relationships/image" Target="../media/image13.svg"/><Relationship Id="rId2" Type="http://schemas.openxmlformats.org/officeDocument/2006/relationships/image" Target="../media/image23.png"/><Relationship Id="rId16" Type="http://schemas.openxmlformats.org/officeDocument/2006/relationships/image" Target="../media/image11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11" Type="http://schemas.openxmlformats.org/officeDocument/2006/relationships/image" Target="../media/image26.png"/><Relationship Id="rId24" Type="http://schemas.openxmlformats.org/officeDocument/2006/relationships/image" Target="../media/image12.png"/><Relationship Id="rId5" Type="http://schemas.openxmlformats.org/officeDocument/2006/relationships/image" Target="../media/image14.png"/><Relationship Id="rId15" Type="http://schemas.openxmlformats.org/officeDocument/2006/relationships/image" Target="../media/image10.png"/><Relationship Id="rId23" Type="http://schemas.openxmlformats.org/officeDocument/2006/relationships/image" Target="../media/image32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25.png"/><Relationship Id="rId9" Type="http://schemas.openxmlformats.org/officeDocument/2006/relationships/image" Target="../media/image22.svg"/><Relationship Id="rId14" Type="http://schemas.openxmlformats.org/officeDocument/2006/relationships/image" Target="../media/image29.svg"/><Relationship Id="rId22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64EDC4D6-DFBE-18D8-5FDC-C2ED1F42C1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96462" y="6289500"/>
            <a:ext cx="3743940" cy="365125"/>
          </a:xfrm>
        </p:spPr>
        <p:txBody>
          <a:bodyPr/>
          <a:lstStyle/>
          <a:p>
            <a:r>
              <a:rPr lang="en-US" dirty="0"/>
              <a:t>© 2025, Amazon Web Services, Inc. or its affiliates.</a:t>
            </a:r>
          </a:p>
        </p:txBody>
      </p:sp>
      <p:sp>
        <p:nvSpPr>
          <p:cNvPr id="37889" name="Title 4">
            <a:extLst>
              <a:ext uri="{FF2B5EF4-FFF2-40B4-BE49-F238E27FC236}">
                <a16:creationId xmlns:a16="http://schemas.microsoft.com/office/drawing/2014/main" id="{4E2A3DCA-3526-ED48-BE0F-AEC29BAD0B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36720" y="3076506"/>
            <a:ext cx="8171177" cy="840230"/>
          </a:xfrm>
        </p:spPr>
        <p:txBody>
          <a:bodyPr/>
          <a:lstStyle/>
          <a:p>
            <a:r>
              <a:rPr lang="en-US" altLang="en-US" dirty="0"/>
              <a:t>Base44 y AWS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1E73EEA-03FA-8F40-9442-4B1A82AA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720" y="3940166"/>
            <a:ext cx="8171176" cy="1514710"/>
          </a:xfrm>
        </p:spPr>
        <p:txBody>
          <a:bodyPr/>
          <a:lstStyle/>
          <a:p>
            <a:r>
              <a:rPr lang="en-US" dirty="0"/>
              <a:t>Dante Presa</a:t>
            </a:r>
          </a:p>
          <a:p>
            <a:r>
              <a:rPr lang="en-US" dirty="0"/>
              <a:t>German Ramirez</a:t>
            </a:r>
          </a:p>
          <a:p>
            <a:r>
              <a:rPr lang="en-US" dirty="0"/>
              <a:t>Cristian Altamirano</a:t>
            </a:r>
          </a:p>
        </p:txBody>
      </p:sp>
    </p:spTree>
    <p:extLst>
      <p:ext uri="{BB962C8B-B14F-4D97-AF65-F5344CB8AC3E}">
        <p14:creationId xmlns:p14="http://schemas.microsoft.com/office/powerpoint/2010/main" val="143834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4" name="Rectangle 43013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6" name="Rectangle 43015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DEC6C95F-3B4F-2641-BC0E-CAA65127A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BASE 44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312C90A-D7A1-7566-84F6-1A7A5FCCA421}"/>
              </a:ext>
            </a:extLst>
          </p:cNvPr>
          <p:cNvSpPr txBox="1"/>
          <p:nvPr/>
        </p:nvSpPr>
        <p:spPr>
          <a:xfrm>
            <a:off x="804672" y="2421683"/>
            <a:ext cx="4765949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Método de codificación de datos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Representa información binaria usando 44 caracteres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Permite compactar datos y facilitar su transmisión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Reduce errores en sistemas con restricciones de caracteres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Usado en intercambio y almacenamiento de información</a:t>
            </a:r>
          </a:p>
        </p:txBody>
      </p:sp>
      <p:grpSp>
        <p:nvGrpSpPr>
          <p:cNvPr id="43018" name="Group 43017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3019" name="Freeform: Shape 43018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0" name="Freeform: Shape 43019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1" name="Freeform: Shape 43020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2" name="Freeform: Shape 43021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Curious about AI, coding, and career opportunities in tech? Base44 (a Wix  company) is coming to campus next Monday with three exciting events — and  you're invited! 1️⃣ Coffee &amp; VibeCoding A">
            <a:extLst>
              <a:ext uri="{FF2B5EF4-FFF2-40B4-BE49-F238E27FC236}">
                <a16:creationId xmlns:a16="http://schemas.microsoft.com/office/drawing/2014/main" id="{4F50C1C0-E47B-2543-572A-07319D0BB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08392" y="1819656"/>
            <a:ext cx="4142232" cy="414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0E0EF-2CC7-7CD2-420C-F064F6FBDF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2B089D-DEA8-E0C2-7FC3-D7989C57BC9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B4B8DE2-A4E8-46E4-8BBF-D75455EFF32C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045099F7-D2AE-EAE7-FB0F-C328A861E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49" y="6342982"/>
            <a:ext cx="647756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4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E4AD3-F52E-F58F-4F2C-A094ED0A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4" name="Rectangle 43013">
            <a:extLst>
              <a:ext uri="{FF2B5EF4-FFF2-40B4-BE49-F238E27FC236}">
                <a16:creationId xmlns:a16="http://schemas.microsoft.com/office/drawing/2014/main" id="{0A2C59CA-A007-7D50-9E36-3A957C7CF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6" name="Rectangle 43015">
            <a:extLst>
              <a:ext uri="{FF2B5EF4-FFF2-40B4-BE49-F238E27FC236}">
                <a16:creationId xmlns:a16="http://schemas.microsoft.com/office/drawing/2014/main" id="{AE0461DA-86A7-8486-50E5-F0934E1EC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B2D0B2DE-02B6-911D-5575-D1388C96E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Google Drive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9785EA-0270-D77C-0C8B-5E42AD86C8D5}"/>
              </a:ext>
            </a:extLst>
          </p:cNvPr>
          <p:cNvSpPr txBox="1"/>
          <p:nvPr/>
        </p:nvSpPr>
        <p:spPr>
          <a:xfrm>
            <a:off x="804672" y="2421683"/>
            <a:ext cx="4765949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43018" name="Group 43017">
            <a:extLst>
              <a:ext uri="{FF2B5EF4-FFF2-40B4-BE49-F238E27FC236}">
                <a16:creationId xmlns:a16="http://schemas.microsoft.com/office/drawing/2014/main" id="{2EE9B4C3-E73B-8B02-64F2-521815B51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3019" name="Freeform: Shape 43018">
              <a:extLst>
                <a:ext uri="{FF2B5EF4-FFF2-40B4-BE49-F238E27FC236}">
                  <a16:creationId xmlns:a16="http://schemas.microsoft.com/office/drawing/2014/main" id="{7DE71110-20C6-0077-F88C-0205D480C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0" name="Freeform: Shape 43019">
              <a:extLst>
                <a:ext uri="{FF2B5EF4-FFF2-40B4-BE49-F238E27FC236}">
                  <a16:creationId xmlns:a16="http://schemas.microsoft.com/office/drawing/2014/main" id="{CAF8D3B4-AA80-3215-1C85-31010CBA3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1" name="Freeform: Shape 43020">
              <a:extLst>
                <a:ext uri="{FF2B5EF4-FFF2-40B4-BE49-F238E27FC236}">
                  <a16:creationId xmlns:a16="http://schemas.microsoft.com/office/drawing/2014/main" id="{E2C5787E-3553-8EDB-765A-B35966AFF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2" name="Freeform: Shape 43021">
              <a:extLst>
                <a:ext uri="{FF2B5EF4-FFF2-40B4-BE49-F238E27FC236}">
                  <a16:creationId xmlns:a16="http://schemas.microsoft.com/office/drawing/2014/main" id="{338A12AE-06C5-225F-6B66-B33EC9A98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4650A-F67A-9DE5-993C-97499F60A82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53751F-A6FC-90EA-8AC4-F8116CD778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B4B8DE2-A4E8-46E4-8BBF-D75455EFF32C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A4351866-9018-CC28-46BD-ECD086551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9" y="6342982"/>
            <a:ext cx="647756" cy="45724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24253C5-9C0F-C6C1-E0E2-1A802568DE96}"/>
              </a:ext>
            </a:extLst>
          </p:cNvPr>
          <p:cNvSpPr txBox="1"/>
          <p:nvPr/>
        </p:nvSpPr>
        <p:spPr>
          <a:xfrm>
            <a:off x="422031" y="2160396"/>
            <a:ext cx="46322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Plataforma de almacenamiento en la nube</a:t>
            </a:r>
          </a:p>
          <a:p>
            <a:endParaRPr lang="es-ES" dirty="0"/>
          </a:p>
          <a:p>
            <a:r>
              <a:rPr lang="es-ES" dirty="0"/>
              <a:t>Permite guardar, organizar y compartir archivos</a:t>
            </a:r>
          </a:p>
          <a:p>
            <a:endParaRPr lang="es-ES" dirty="0"/>
          </a:p>
          <a:p>
            <a:r>
              <a:rPr lang="es-ES" dirty="0"/>
              <a:t>Acceso desde cualquier dispositivo con internet</a:t>
            </a:r>
          </a:p>
          <a:p>
            <a:endParaRPr lang="es-ES" dirty="0"/>
          </a:p>
          <a:p>
            <a:r>
              <a:rPr lang="es-ES" dirty="0"/>
              <a:t>Facilita el trabajo colaborativo en tiempo real</a:t>
            </a:r>
          </a:p>
          <a:p>
            <a:endParaRPr lang="es-ES" dirty="0"/>
          </a:p>
          <a:p>
            <a:r>
              <a:rPr lang="es-ES" dirty="0"/>
              <a:t>Integración con </a:t>
            </a:r>
            <a:r>
              <a:rPr lang="es-ES" dirty="0" err="1"/>
              <a:t>Docs</a:t>
            </a:r>
            <a:r>
              <a:rPr lang="es-ES" dirty="0"/>
              <a:t>, </a:t>
            </a:r>
            <a:r>
              <a:rPr lang="es-ES" dirty="0" err="1"/>
              <a:t>Sheets</a:t>
            </a:r>
            <a:r>
              <a:rPr lang="es-ES" dirty="0"/>
              <a:t>, </a:t>
            </a:r>
            <a:r>
              <a:rPr lang="es-ES" dirty="0" err="1"/>
              <a:t>Slides</a:t>
            </a:r>
            <a:r>
              <a:rPr lang="es-ES" dirty="0"/>
              <a:t> y </a:t>
            </a:r>
            <a:r>
              <a:rPr lang="es-ES" dirty="0" err="1"/>
              <a:t>Forms</a:t>
            </a:r>
            <a:endParaRPr lang="es-CO" dirty="0"/>
          </a:p>
        </p:txBody>
      </p:sp>
      <p:pic>
        <p:nvPicPr>
          <p:cNvPr id="2051" name="Picture 3" descr="What is the Difference Between Google Drive and Google Drive for Work? | by  Scale100">
            <a:extLst>
              <a:ext uri="{FF2B5EF4-FFF2-40B4-BE49-F238E27FC236}">
                <a16:creationId xmlns:a16="http://schemas.microsoft.com/office/drawing/2014/main" id="{37A7CEFE-EECF-867E-930E-740DA1E0E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724" y="2421683"/>
            <a:ext cx="4124076" cy="257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26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606C8-F5D9-C5DE-BB9B-61EEBC28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4" name="Rectangle 43013">
            <a:extLst>
              <a:ext uri="{FF2B5EF4-FFF2-40B4-BE49-F238E27FC236}">
                <a16:creationId xmlns:a16="http://schemas.microsoft.com/office/drawing/2014/main" id="{9C1F6A85-7FFD-BD37-2264-D2DEF2BC9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6" name="Rectangle 43015">
            <a:extLst>
              <a:ext uri="{FF2B5EF4-FFF2-40B4-BE49-F238E27FC236}">
                <a16:creationId xmlns:a16="http://schemas.microsoft.com/office/drawing/2014/main" id="{72B49869-F677-F265-B981-420E957BF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B73E6CF7-CCAD-1316-77C9-C67C9DC22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Google Drive API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48AC4F-81A9-E8AC-49F9-1B7680960319}"/>
              </a:ext>
            </a:extLst>
          </p:cNvPr>
          <p:cNvSpPr txBox="1"/>
          <p:nvPr/>
        </p:nvSpPr>
        <p:spPr>
          <a:xfrm>
            <a:off x="804672" y="2421683"/>
            <a:ext cx="4765949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43018" name="Group 43017">
            <a:extLst>
              <a:ext uri="{FF2B5EF4-FFF2-40B4-BE49-F238E27FC236}">
                <a16:creationId xmlns:a16="http://schemas.microsoft.com/office/drawing/2014/main" id="{4010181B-D2AA-BB81-BEF6-A37880090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3019" name="Freeform: Shape 43018">
              <a:extLst>
                <a:ext uri="{FF2B5EF4-FFF2-40B4-BE49-F238E27FC236}">
                  <a16:creationId xmlns:a16="http://schemas.microsoft.com/office/drawing/2014/main" id="{C3CE52D5-C337-BA26-8A75-FA3D259BD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0" name="Freeform: Shape 43019">
              <a:extLst>
                <a:ext uri="{FF2B5EF4-FFF2-40B4-BE49-F238E27FC236}">
                  <a16:creationId xmlns:a16="http://schemas.microsoft.com/office/drawing/2014/main" id="{95553C5F-DC1B-64F9-ADFD-B41E88750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1" name="Freeform: Shape 43020">
              <a:extLst>
                <a:ext uri="{FF2B5EF4-FFF2-40B4-BE49-F238E27FC236}">
                  <a16:creationId xmlns:a16="http://schemas.microsoft.com/office/drawing/2014/main" id="{AA823081-AEFF-35DA-7F6E-6B7431562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2" name="Freeform: Shape 43021">
              <a:extLst>
                <a:ext uri="{FF2B5EF4-FFF2-40B4-BE49-F238E27FC236}">
                  <a16:creationId xmlns:a16="http://schemas.microsoft.com/office/drawing/2014/main" id="{3FF7B2B9-FB23-AD27-3D67-DC39372A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DC7DD-9559-3B74-3273-9858D6B7C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A8F50-226D-1185-1808-8DDB6C41E3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B4B8DE2-A4E8-46E4-8BBF-D75455EFF32C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FD8312EF-E886-2697-7FA4-EF7805007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9" y="6342982"/>
            <a:ext cx="647756" cy="45724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436D905-674F-933F-C6F9-181F0951F1E1}"/>
              </a:ext>
            </a:extLst>
          </p:cNvPr>
          <p:cNvSpPr txBox="1"/>
          <p:nvPr/>
        </p:nvSpPr>
        <p:spPr>
          <a:xfrm>
            <a:off x="422031" y="2160396"/>
            <a:ext cx="46322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API que permite interactuar con archivos en Google Drive</a:t>
            </a:r>
          </a:p>
          <a:p>
            <a:endParaRPr lang="es-ES" dirty="0"/>
          </a:p>
          <a:p>
            <a:r>
              <a:rPr lang="es-ES" dirty="0"/>
              <a:t>Permite subir, descargar, listar, mover y eliminar archivos</a:t>
            </a:r>
          </a:p>
          <a:p>
            <a:endParaRPr lang="es-ES" dirty="0"/>
          </a:p>
          <a:p>
            <a:r>
              <a:rPr lang="es-ES" dirty="0"/>
              <a:t>Gestiona permisos y accesos de usuarios</a:t>
            </a:r>
          </a:p>
          <a:p>
            <a:endParaRPr lang="es-ES" dirty="0"/>
          </a:p>
          <a:p>
            <a:r>
              <a:rPr lang="es-ES" dirty="0"/>
              <a:t>Automatiza procesos sin usar la interfaz gráfica</a:t>
            </a:r>
          </a:p>
          <a:p>
            <a:endParaRPr lang="es-ES" dirty="0"/>
          </a:p>
          <a:p>
            <a:r>
              <a:rPr lang="es-ES" dirty="0"/>
              <a:t>Muy usada en integraciones y sistemas en la nube</a:t>
            </a:r>
            <a:endParaRPr lang="es-CO" dirty="0"/>
          </a:p>
        </p:txBody>
      </p:sp>
      <p:pic>
        <p:nvPicPr>
          <p:cNvPr id="2051" name="Picture 3" descr="What is the Difference Between Google Drive and Google Drive for Work? | by  Scale100">
            <a:extLst>
              <a:ext uri="{FF2B5EF4-FFF2-40B4-BE49-F238E27FC236}">
                <a16:creationId xmlns:a16="http://schemas.microsoft.com/office/drawing/2014/main" id="{CFDF6AB9-878F-003D-51BA-1D698C159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724" y="2421683"/>
            <a:ext cx="4124076" cy="257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20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D86F9-4F77-9B32-3CCD-EECD9205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27" name="Rectangle 4302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29" name="Rectangle 4302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D01C5072-3E25-8331-4D36-5478079B94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Google </a:t>
            </a:r>
            <a:r>
              <a:rPr lang="en-US" alt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Sheets API</a:t>
            </a:r>
            <a:endParaRPr lang="en-US" altLang="en-US" sz="3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FF7395F-1BD5-DE20-C817-8E42EBBFE865}"/>
              </a:ext>
            </a:extLst>
          </p:cNvPr>
          <p:cNvSpPr txBox="1"/>
          <p:nvPr/>
        </p:nvSpPr>
        <p:spPr>
          <a:xfrm>
            <a:off x="804672" y="2421683"/>
            <a:ext cx="4765949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API para trabajar con hojas de cálculo de Google Sheets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Permite leer, escribir y actualizar datos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Automatiza reportes y análisis de información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Se integra fácilmente con aplicaciones y scripts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Ideal para encuestas, dashboards y procesamiento de datos</a:t>
            </a:r>
          </a:p>
        </p:txBody>
      </p:sp>
      <p:grpSp>
        <p:nvGrpSpPr>
          <p:cNvPr id="43031" name="Group 4303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3032" name="Freeform: Shape 4303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33" name="Freeform: Shape 4303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34" name="Freeform: Shape 4303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35" name="Freeform: Shape 4303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22" name="Picture 2" descr="How to replicate Google Sheets to your data warehouse | Stitch">
            <a:extLst>
              <a:ext uri="{FF2B5EF4-FFF2-40B4-BE49-F238E27FC236}">
                <a16:creationId xmlns:a16="http://schemas.microsoft.com/office/drawing/2014/main" id="{2490AABA-22EA-81BE-21D9-C684DD6E0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08392" y="2648102"/>
            <a:ext cx="4142232" cy="248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5A3C4-ED4D-4961-66E4-6933D5E2B14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F77422-F1D1-D6DC-6F4B-889DA580D12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B4B8DE2-A4E8-46E4-8BBF-D75455EFF32C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3CAB33E-4E26-AB60-2B85-E8E9CC0E69E4}"/>
              </a:ext>
            </a:extLst>
          </p:cNvPr>
          <p:cNvSpPr txBox="1"/>
          <p:nvPr/>
        </p:nvSpPr>
        <p:spPr>
          <a:xfrm>
            <a:off x="804672" y="2421683"/>
            <a:ext cx="4765949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45FE3AFF-B57C-8B46-3A0F-079F1778B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49" y="6342982"/>
            <a:ext cx="647756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03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ACE24-4515-AF94-C4AE-9BF628F8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4" name="Rectangle 43013">
            <a:extLst>
              <a:ext uri="{FF2B5EF4-FFF2-40B4-BE49-F238E27FC236}">
                <a16:creationId xmlns:a16="http://schemas.microsoft.com/office/drawing/2014/main" id="{49FD7C27-5AAB-B547-D147-DC16B37BF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6" name="Rectangle 43015">
            <a:extLst>
              <a:ext uri="{FF2B5EF4-FFF2-40B4-BE49-F238E27FC236}">
                <a16:creationId xmlns:a16="http://schemas.microsoft.com/office/drawing/2014/main" id="{BC9D165E-4153-0A86-2763-F5DBF6140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09" name="Title 3">
            <a:extLst>
              <a:ext uri="{FF2B5EF4-FFF2-40B4-BE49-F238E27FC236}">
                <a16:creationId xmlns:a16="http://schemas.microsoft.com/office/drawing/2014/main" id="{5C41B632-DFB4-CE05-A2F7-14FFA8CEC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600" dirty="0">
                <a:solidFill>
                  <a:schemeClr val="tx2"/>
                </a:solidFill>
              </a:rPr>
              <a:t>Cognito</a:t>
            </a:r>
            <a:endParaRPr lang="en-US" altLang="en-US" sz="3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A3E4A19-FCFA-E3BF-81B4-06F072B3DE18}"/>
              </a:ext>
            </a:extLst>
          </p:cNvPr>
          <p:cNvSpPr txBox="1"/>
          <p:nvPr/>
        </p:nvSpPr>
        <p:spPr>
          <a:xfrm>
            <a:off x="804672" y="2421683"/>
            <a:ext cx="4765949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43018" name="Group 43017">
            <a:extLst>
              <a:ext uri="{FF2B5EF4-FFF2-40B4-BE49-F238E27FC236}">
                <a16:creationId xmlns:a16="http://schemas.microsoft.com/office/drawing/2014/main" id="{3329A3AC-4903-6765-9B4F-25B96FD0A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3019" name="Freeform: Shape 43018">
              <a:extLst>
                <a:ext uri="{FF2B5EF4-FFF2-40B4-BE49-F238E27FC236}">
                  <a16:creationId xmlns:a16="http://schemas.microsoft.com/office/drawing/2014/main" id="{52D3548C-AAFB-C213-61DE-BCB2D6FF0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0" name="Freeform: Shape 43019">
              <a:extLst>
                <a:ext uri="{FF2B5EF4-FFF2-40B4-BE49-F238E27FC236}">
                  <a16:creationId xmlns:a16="http://schemas.microsoft.com/office/drawing/2014/main" id="{CCEB6B89-1612-DE86-CB02-E6536DE353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1" name="Freeform: Shape 43020">
              <a:extLst>
                <a:ext uri="{FF2B5EF4-FFF2-40B4-BE49-F238E27FC236}">
                  <a16:creationId xmlns:a16="http://schemas.microsoft.com/office/drawing/2014/main" id="{7E9DB177-C66C-0F51-42F5-491802D41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22" name="Freeform: Shape 43021">
              <a:extLst>
                <a:ext uri="{FF2B5EF4-FFF2-40B4-BE49-F238E27FC236}">
                  <a16:creationId xmlns:a16="http://schemas.microsoft.com/office/drawing/2014/main" id="{95D6BACE-00D4-6340-3651-B4C32224F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00870-EF19-689C-C868-977E2C665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B670F-5EBF-096C-9008-39212BE037C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B4B8DE2-A4E8-46E4-8BBF-D75455EFF32C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185DF209-F738-5247-20FD-8EE95F209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9" y="6342982"/>
            <a:ext cx="647756" cy="45724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BA648CC-9017-6265-E139-31B4EB485D1D}"/>
              </a:ext>
            </a:extLst>
          </p:cNvPr>
          <p:cNvSpPr txBox="1"/>
          <p:nvPr/>
        </p:nvSpPr>
        <p:spPr>
          <a:xfrm>
            <a:off x="422031" y="2160396"/>
            <a:ext cx="46322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dirty="0"/>
              <a:t>Servicio de gestión de identidad y acceso</a:t>
            </a:r>
          </a:p>
          <a:p>
            <a:endParaRPr lang="es-ES" dirty="0"/>
          </a:p>
          <a:p>
            <a:r>
              <a:rPr lang="es-ES" dirty="0"/>
              <a:t>Permite registro, autenticación y autorización de usuarios</a:t>
            </a:r>
          </a:p>
          <a:p>
            <a:endParaRPr lang="es-ES" dirty="0"/>
          </a:p>
          <a:p>
            <a:r>
              <a:rPr lang="es-ES" dirty="0"/>
              <a:t>Usa </a:t>
            </a:r>
            <a:r>
              <a:rPr lang="es-ES" dirty="0" err="1"/>
              <a:t>User</a:t>
            </a:r>
            <a:r>
              <a:rPr lang="es-ES" dirty="0"/>
              <a:t> Pools para manejar usuarios y contraseñas</a:t>
            </a:r>
          </a:p>
          <a:p>
            <a:endParaRPr lang="es-ES" dirty="0"/>
          </a:p>
          <a:p>
            <a:r>
              <a:rPr lang="es-ES" dirty="0"/>
              <a:t>Controla accesos mediante grupos y roles</a:t>
            </a:r>
          </a:p>
          <a:p>
            <a:endParaRPr lang="es-ES" dirty="0"/>
          </a:p>
          <a:p>
            <a:r>
              <a:rPr lang="es-ES" dirty="0"/>
              <a:t>Se integra fácilmente con API Gateway y Lambda</a:t>
            </a:r>
            <a:endParaRPr lang="es-CO" dirty="0"/>
          </a:p>
        </p:txBody>
      </p:sp>
      <p:pic>
        <p:nvPicPr>
          <p:cNvPr id="6147" name="Picture 3" descr="Amazon Cognito: Empowering User Identity for Your Web and Mobile  Applications | by Alice the Architect | AWS in Plain English">
            <a:extLst>
              <a:ext uri="{FF2B5EF4-FFF2-40B4-BE49-F238E27FC236}">
                <a16:creationId xmlns:a16="http://schemas.microsoft.com/office/drawing/2014/main" id="{69BF1D88-B80B-9E71-0476-7EBBC43CF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031" y="264257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97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5AFAE-4099-986C-3D9E-EEBEE51F1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DDDC88-0ED3-608B-FC7F-EBFF96B0B2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2F9619-E01C-09D3-53D0-B607381FFB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65C72D-80CF-C90D-104B-C6FC0C7A8227}"/>
              </a:ext>
            </a:extLst>
          </p:cNvPr>
          <p:cNvSpPr txBox="1"/>
          <p:nvPr/>
        </p:nvSpPr>
        <p:spPr>
          <a:xfrm>
            <a:off x="8468815" y="1727925"/>
            <a:ext cx="50040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sz="1000" dirty="0"/>
              <a:t>Servicio de gestión de identidad y acceso</a:t>
            </a:r>
          </a:p>
          <a:p>
            <a:endParaRPr lang="es-ES" sz="1000" dirty="0"/>
          </a:p>
          <a:p>
            <a:r>
              <a:rPr lang="es-ES" sz="1000" dirty="0"/>
              <a:t>Permite registro, autenticación y autorización de usuarios</a:t>
            </a:r>
          </a:p>
          <a:p>
            <a:endParaRPr lang="es-ES" sz="1000" dirty="0"/>
          </a:p>
          <a:p>
            <a:r>
              <a:rPr lang="es-ES" sz="1000" dirty="0"/>
              <a:t>Usa </a:t>
            </a:r>
            <a:r>
              <a:rPr lang="es-ES" sz="1000" dirty="0" err="1"/>
              <a:t>User</a:t>
            </a:r>
            <a:r>
              <a:rPr lang="es-ES" sz="1000" dirty="0"/>
              <a:t> Pools para manejar usuarios y contraseñas</a:t>
            </a:r>
          </a:p>
          <a:p>
            <a:endParaRPr lang="es-ES" sz="1000" dirty="0"/>
          </a:p>
          <a:p>
            <a:r>
              <a:rPr lang="es-ES" sz="1000" dirty="0"/>
              <a:t>Controla accesos mediante grupos y roles</a:t>
            </a:r>
          </a:p>
          <a:p>
            <a:endParaRPr lang="es-ES" sz="1000" dirty="0"/>
          </a:p>
          <a:p>
            <a:r>
              <a:rPr lang="es-ES" sz="1000" dirty="0"/>
              <a:t>Se integra fácilmente con API Gateway y Lambda</a:t>
            </a:r>
            <a:endParaRPr lang="es-CO" sz="1000" dirty="0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19F870BC-C304-9423-5EC7-2CBBBE191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17" y="1952259"/>
            <a:ext cx="1683454" cy="1351680"/>
          </a:xfrm>
          <a:prstGeom prst="rect">
            <a:avLst/>
          </a:prstGeom>
        </p:spPr>
      </p:pic>
      <p:pic>
        <p:nvPicPr>
          <p:cNvPr id="9" name="Graphic 17" descr="AWS Secrets Manager service icon.">
            <a:extLst>
              <a:ext uri="{FF2B5EF4-FFF2-40B4-BE49-F238E27FC236}">
                <a16:creationId xmlns:a16="http://schemas.microsoft.com/office/drawing/2014/main" id="{CB0B7BE4-3655-5A70-C3A9-6DFC7E352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6873753" y="3777888"/>
            <a:ext cx="949582" cy="949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6DCBA0D3-205C-4475-416C-BA76C3E23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817" y="4853232"/>
            <a:ext cx="16973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Secrets Manager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DDAD26-450E-EA95-9E85-FFDA8E3FFD22}"/>
              </a:ext>
            </a:extLst>
          </p:cNvPr>
          <p:cNvSpPr txBox="1"/>
          <p:nvPr/>
        </p:nvSpPr>
        <p:spPr>
          <a:xfrm>
            <a:off x="8453297" y="3777888"/>
            <a:ext cx="31094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sz="1000" dirty="0"/>
              <a:t>Servicio para almacenar y proteger credenciales y secretos</a:t>
            </a:r>
          </a:p>
          <a:p>
            <a:endParaRPr lang="es-ES" sz="1000" dirty="0"/>
          </a:p>
          <a:p>
            <a:r>
              <a:rPr lang="es-ES" sz="1000" dirty="0"/>
              <a:t>Guarda contraseñas, tokens, API </a:t>
            </a:r>
            <a:r>
              <a:rPr lang="es-ES" sz="1000" dirty="0" err="1"/>
              <a:t>keys</a:t>
            </a:r>
            <a:r>
              <a:rPr lang="es-ES" sz="1000" dirty="0"/>
              <a:t> y certificados</a:t>
            </a:r>
          </a:p>
          <a:p>
            <a:endParaRPr lang="es-ES" sz="1000" dirty="0"/>
          </a:p>
          <a:p>
            <a:r>
              <a:rPr lang="es-ES" sz="1000" dirty="0"/>
              <a:t>Permite acceso seguro desde Lambda y otros servicios</a:t>
            </a:r>
          </a:p>
          <a:p>
            <a:endParaRPr lang="es-ES" sz="1000" dirty="0"/>
          </a:p>
          <a:p>
            <a:r>
              <a:rPr lang="es-ES" sz="1000" dirty="0"/>
              <a:t>Evita </a:t>
            </a:r>
            <a:r>
              <a:rPr lang="es-ES" sz="1000" dirty="0" err="1"/>
              <a:t>hardcodear</a:t>
            </a:r>
            <a:r>
              <a:rPr lang="es-ES" sz="1000" dirty="0"/>
              <a:t> credenciales en el código</a:t>
            </a:r>
          </a:p>
          <a:p>
            <a:endParaRPr lang="es-ES" sz="1000" dirty="0"/>
          </a:p>
          <a:p>
            <a:r>
              <a:rPr lang="es-ES" sz="1000" dirty="0"/>
              <a:t>Facilita la rotación automática de secretos</a:t>
            </a:r>
            <a:endParaRPr lang="es-CO" sz="1000" dirty="0"/>
          </a:p>
        </p:txBody>
      </p:sp>
      <p:pic>
        <p:nvPicPr>
          <p:cNvPr id="12" name="lambda" descr="Lambda service icon.">
            <a:extLst>
              <a:ext uri="{FF2B5EF4-FFF2-40B4-BE49-F238E27FC236}">
                <a16:creationId xmlns:a16="http://schemas.microsoft.com/office/drawing/2014/main" id="{ED82A884-84E2-F3E6-CF1A-E6DBB8476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558226" y="2045141"/>
            <a:ext cx="829140" cy="82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08B4D03B-9D70-4A90-F18F-C31E5EF66B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4111" y="2045142"/>
            <a:ext cx="1278841" cy="829139"/>
          </a:xfrm>
          <a:prstGeom prst="rect">
            <a:avLst/>
          </a:prstGeom>
        </p:spPr>
      </p:pic>
      <p:pic>
        <p:nvPicPr>
          <p:cNvPr id="14" name="Graphic 63" descr="Internet gateway resource icon for the Amazon VPC service.&#10;">
            <a:extLst>
              <a:ext uri="{FF2B5EF4-FFF2-40B4-BE49-F238E27FC236}">
                <a16:creationId xmlns:a16="http://schemas.microsoft.com/office/drawing/2014/main" id="{AD9EA4C1-87A3-3F35-D7F5-6435BD252F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57925" y="2045141"/>
            <a:ext cx="457200" cy="4572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17130FDF-C645-FC7C-6AD3-0BFEAABB3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427" y="2579795"/>
            <a:ext cx="1403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grpSp>
        <p:nvGrpSpPr>
          <p:cNvPr id="16" name="Group 66" descr="Second Nat gateway resource icon, with the Nate gateway label below it. The resource is in Availability Zone 2.">
            <a:extLst>
              <a:ext uri="{FF2B5EF4-FFF2-40B4-BE49-F238E27FC236}">
                <a16:creationId xmlns:a16="http://schemas.microsoft.com/office/drawing/2014/main" id="{4E19C819-ADFE-1EE5-74DC-82528CEB48DB}"/>
              </a:ext>
            </a:extLst>
          </p:cNvPr>
          <p:cNvGrpSpPr/>
          <p:nvPr/>
        </p:nvGrpSpPr>
        <p:grpSpPr>
          <a:xfrm>
            <a:off x="3794427" y="4318454"/>
            <a:ext cx="1234766" cy="735786"/>
            <a:chOff x="3959051" y="3922713"/>
            <a:chExt cx="1234766" cy="735786"/>
          </a:xfrm>
        </p:grpSpPr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AFBFEEF3-CE9B-E1D6-1002-7B0E5339C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051" y="4381500"/>
              <a:ext cx="123476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NAT gateway</a:t>
              </a:r>
            </a:p>
          </p:txBody>
        </p:sp>
        <p:pic>
          <p:nvPicPr>
            <p:cNvPr id="18" name="Graphic 35">
              <a:extLst>
                <a:ext uri="{FF2B5EF4-FFF2-40B4-BE49-F238E27FC236}">
                  <a16:creationId xmlns:a16="http://schemas.microsoft.com/office/drawing/2014/main" id="{D580580C-723C-D1D5-154A-EBC3CEBB0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4355307" y="392271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F8FE8138-981A-181F-4896-AA74CDA39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2511997" y="4318454"/>
            <a:ext cx="559947" cy="559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A713338C-BDA8-EF2A-EE09-7C34A34BB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8758" y="4980935"/>
            <a:ext cx="224313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22" name="Graphic 8" descr="Amazon Simple Storage Service (Amazon S3) service icon.">
            <a:extLst>
              <a:ext uri="{FF2B5EF4-FFF2-40B4-BE49-F238E27FC236}">
                <a16:creationId xmlns:a16="http://schemas.microsoft.com/office/drawing/2014/main" id="{B3D06BCA-FD11-8B65-8B14-1869423FC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793663" y="4320077"/>
            <a:ext cx="563205" cy="56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44">
            <a:extLst>
              <a:ext uri="{FF2B5EF4-FFF2-40B4-BE49-F238E27FC236}">
                <a16:creationId xmlns:a16="http://schemas.microsoft.com/office/drawing/2014/main" id="{E1EBE284-AA63-7EB1-3DEF-093DCF07A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6665" y="4985462"/>
            <a:ext cx="220186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</p:spTree>
    <p:extLst>
      <p:ext uri="{BB962C8B-B14F-4D97-AF65-F5344CB8AC3E}">
        <p14:creationId xmlns:p14="http://schemas.microsoft.com/office/powerpoint/2010/main" val="1400315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8214-625B-2334-EBFB-93FE4484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8777F-DBD9-9F5B-CE96-CD8C4D88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2025, Amazon Web Services, Inc. or its affiliates.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8FD7FF-D837-CAB4-80CB-D6F0263D5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6333" name="label6">
            <a:extLst>
              <a:ext uri="{FF2B5EF4-FFF2-40B4-BE49-F238E27FC236}">
                <a16:creationId xmlns:a16="http://schemas.microsoft.com/office/drawing/2014/main" id="{4D417386-FF4D-8DC4-CCC8-975F5066B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342" y="4057073"/>
            <a:ext cx="1506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 descr="Arrow pointing from Git users to Third party Git repository.">
            <a:extLst>
              <a:ext uri="{FF2B5EF4-FFF2-40B4-BE49-F238E27FC236}">
                <a16:creationId xmlns:a16="http://schemas.microsoft.com/office/drawing/2014/main" id="{90C2311F-205C-9598-B713-EA6A423F3A9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664729" y="3909258"/>
            <a:ext cx="480102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 descr="Arrow pointing from Third party Git repository to the AWS lambda service. ">
            <a:extLst>
              <a:ext uri="{FF2B5EF4-FFF2-40B4-BE49-F238E27FC236}">
                <a16:creationId xmlns:a16="http://schemas.microsoft.com/office/drawing/2014/main" id="{825FAD55-EA8C-814D-DD33-BAFD17CE4F32}"/>
              </a:ext>
            </a:extLst>
          </p:cNvPr>
          <p:cNvCxnSpPr>
            <a:cxnSpLocks/>
          </p:cNvCxnSpPr>
          <p:nvPr/>
        </p:nvCxnSpPr>
        <p:spPr>
          <a:xfrm>
            <a:off x="3786995" y="4294424"/>
            <a:ext cx="0" cy="39600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AWS Cloud container" descr="AWS cloud container encapsulating an architecture.">
            <a:extLst>
              <a:ext uri="{FF2B5EF4-FFF2-40B4-BE49-F238E27FC236}">
                <a16:creationId xmlns:a16="http://schemas.microsoft.com/office/drawing/2014/main" id="{699E0F05-E160-2EF5-E498-DD8EFD3B96A9}"/>
              </a:ext>
            </a:extLst>
          </p:cNvPr>
          <p:cNvGrpSpPr/>
          <p:nvPr/>
        </p:nvGrpSpPr>
        <p:grpSpPr>
          <a:xfrm>
            <a:off x="2952508" y="1009650"/>
            <a:ext cx="8009723" cy="5337670"/>
            <a:chOff x="5391151" y="1530350"/>
            <a:chExt cx="5500686" cy="38703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01164DA-156F-16C1-4C6F-3579F9938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91151" y="1531938"/>
              <a:ext cx="5500686" cy="386873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AWS Cloud</a:t>
              </a: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6A598C1E-F64E-AE49-FAD4-49369BB96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391151" y="1530350"/>
              <a:ext cx="288563" cy="288563"/>
            </a:xfrm>
            <a:prstGeom prst="rect">
              <a:avLst/>
            </a:prstGeom>
          </p:spPr>
        </p:pic>
      </p:grpSp>
      <p:sp>
        <p:nvSpPr>
          <p:cNvPr id="56331" name="label5">
            <a:extLst>
              <a:ext uri="{FF2B5EF4-FFF2-40B4-BE49-F238E27FC236}">
                <a16:creationId xmlns:a16="http://schemas.microsoft.com/office/drawing/2014/main" id="{7E0A98B2-7CC6-1EDD-5C6C-BD227CFB9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0806" y="6121637"/>
            <a:ext cx="1506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6CCCF44F-A3AE-F1E6-41D9-6D4AC962E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630" y="3553027"/>
            <a:ext cx="542446" cy="568277"/>
          </a:xfrm>
          <a:prstGeom prst="rect">
            <a:avLst/>
          </a:prstGeom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7CC36640-EAFA-8D35-E9D0-285EC764B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831" y="3521490"/>
            <a:ext cx="1196165" cy="775536"/>
          </a:xfrm>
          <a:prstGeom prst="rect">
            <a:avLst/>
          </a:prstGeom>
        </p:spPr>
      </p:pic>
      <p:pic>
        <p:nvPicPr>
          <p:cNvPr id="2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D973CC70-03AB-546C-91FC-483EB5C9C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9806888" y="2684384"/>
            <a:ext cx="559947" cy="559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Straight Arrow Connector 13" descr="Arrow pointing right">
            <a:extLst>
              <a:ext uri="{FF2B5EF4-FFF2-40B4-BE49-F238E27FC236}">
                <a16:creationId xmlns:a16="http://schemas.microsoft.com/office/drawing/2014/main" id="{81C04D8E-3F2D-333F-6170-E234431D0670}"/>
              </a:ext>
            </a:extLst>
          </p:cNvPr>
          <p:cNvCxnSpPr>
            <a:cxnSpLocks/>
          </p:cNvCxnSpPr>
          <p:nvPr/>
        </p:nvCxnSpPr>
        <p:spPr>
          <a:xfrm>
            <a:off x="9353614" y="2873131"/>
            <a:ext cx="419091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13" descr="Arrow pointing right">
            <a:extLst>
              <a:ext uri="{FF2B5EF4-FFF2-40B4-BE49-F238E27FC236}">
                <a16:creationId xmlns:a16="http://schemas.microsoft.com/office/drawing/2014/main" id="{C2A2B337-D7B8-32AD-2FA4-9BE6C9FF9E8E}"/>
              </a:ext>
            </a:extLst>
          </p:cNvPr>
          <p:cNvCxnSpPr>
            <a:cxnSpLocks/>
          </p:cNvCxnSpPr>
          <p:nvPr/>
        </p:nvCxnSpPr>
        <p:spPr>
          <a:xfrm>
            <a:off x="9336522" y="4872841"/>
            <a:ext cx="453274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12" descr="Line with no arrows.">
            <a:extLst>
              <a:ext uri="{FF2B5EF4-FFF2-40B4-BE49-F238E27FC236}">
                <a16:creationId xmlns:a16="http://schemas.microsoft.com/office/drawing/2014/main" id="{08B34944-F776-57BC-D91E-FE6256ACE850}"/>
              </a:ext>
            </a:extLst>
          </p:cNvPr>
          <p:cNvCxnSpPr>
            <a:cxnSpLocks/>
          </p:cNvCxnSpPr>
          <p:nvPr/>
        </p:nvCxnSpPr>
        <p:spPr>
          <a:xfrm>
            <a:off x="8835513" y="3880870"/>
            <a:ext cx="518101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2203F061-61BB-7F1E-23C5-5DAC9F392982}"/>
              </a:ext>
            </a:extLst>
          </p:cNvPr>
          <p:cNvCxnSpPr/>
          <p:nvPr/>
        </p:nvCxnSpPr>
        <p:spPr>
          <a:xfrm>
            <a:off x="9353614" y="2836568"/>
            <a:ext cx="0" cy="20362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9">
            <a:extLst>
              <a:ext uri="{FF2B5EF4-FFF2-40B4-BE49-F238E27FC236}">
                <a16:creationId xmlns:a16="http://schemas.microsoft.com/office/drawing/2014/main" id="{F48D1168-EEA1-C3FB-0EE5-76EDDA1FA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267" y="3261619"/>
            <a:ext cx="224313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47" name="Graphic 8" descr="Amazon Simple Storage Service (Amazon S3) service icon.">
            <a:extLst>
              <a:ext uri="{FF2B5EF4-FFF2-40B4-BE49-F238E27FC236}">
                <a16:creationId xmlns:a16="http://schemas.microsoft.com/office/drawing/2014/main" id="{F2C3DA01-49FD-B764-F1A6-AFDCFFEEE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9873895" y="4558929"/>
            <a:ext cx="563205" cy="56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44">
            <a:extLst>
              <a:ext uri="{FF2B5EF4-FFF2-40B4-BE49-F238E27FC236}">
                <a16:creationId xmlns:a16="http://schemas.microsoft.com/office/drawing/2014/main" id="{AED55350-10B2-2257-8CC4-3CF55F015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3567" y="5224314"/>
            <a:ext cx="220186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pic>
        <p:nvPicPr>
          <p:cNvPr id="19" name="Imagen 18" descr="Texto&#10;&#10;El contenido generado por IA puede ser incorrecto.">
            <a:extLst>
              <a:ext uri="{FF2B5EF4-FFF2-40B4-BE49-F238E27FC236}">
                <a16:creationId xmlns:a16="http://schemas.microsoft.com/office/drawing/2014/main" id="{D7494010-70EC-B855-B3FA-A1B0A8C682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2507" y="4715124"/>
            <a:ext cx="1044030" cy="838273"/>
          </a:xfrm>
          <a:prstGeom prst="rect">
            <a:avLst/>
          </a:prstGeom>
        </p:spPr>
      </p:pic>
      <p:cxnSp>
        <p:nvCxnSpPr>
          <p:cNvPr id="52" name="Straight Arrow Connector 19" descr="Arrow pointing from Git users to Third party Git repository.">
            <a:extLst>
              <a:ext uri="{FF2B5EF4-FFF2-40B4-BE49-F238E27FC236}">
                <a16:creationId xmlns:a16="http://schemas.microsoft.com/office/drawing/2014/main" id="{665D90B9-5DD1-AC10-1BDA-25D546E9A9E5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340996" y="3909258"/>
            <a:ext cx="735114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nestedGroup" descr="This Virtual Private Cloud (VPC) group is within the AWS Cloud group. The group spans availability zone 1 and 2, and some other services.">
            <a:extLst>
              <a:ext uri="{FF2B5EF4-FFF2-40B4-BE49-F238E27FC236}">
                <a16:creationId xmlns:a16="http://schemas.microsoft.com/office/drawing/2014/main" id="{AC8A39C2-AF4B-7921-BDB6-4CC83A30B82D}"/>
              </a:ext>
            </a:extLst>
          </p:cNvPr>
          <p:cNvGrpSpPr/>
          <p:nvPr/>
        </p:nvGrpSpPr>
        <p:grpSpPr>
          <a:xfrm>
            <a:off x="5076110" y="1665811"/>
            <a:ext cx="5750050" cy="3968868"/>
            <a:chOff x="5141556" y="1912075"/>
            <a:chExt cx="6424509" cy="3380654"/>
          </a:xfrm>
        </p:grpSpPr>
        <p:sp>
          <p:nvSpPr>
            <p:cNvPr id="59" name="Rectangle 3">
              <a:extLst>
                <a:ext uri="{FF2B5EF4-FFF2-40B4-BE49-F238E27FC236}">
                  <a16:creationId xmlns:a16="http://schemas.microsoft.com/office/drawing/2014/main" id="{9763D4B8-CA3D-C500-54C3-C31DEB955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148129" y="1917704"/>
              <a:ext cx="6417936" cy="3375025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Virtual private cloud (VPC)</a:t>
              </a:r>
            </a:p>
          </p:txBody>
        </p:sp>
        <p:pic>
          <p:nvPicPr>
            <p:cNvPr id="60" name="Graphic 38" descr="VPC group icon.">
              <a:extLst>
                <a:ext uri="{FF2B5EF4-FFF2-40B4-BE49-F238E27FC236}">
                  <a16:creationId xmlns:a16="http://schemas.microsoft.com/office/drawing/2014/main" id="{D6B9EA14-5163-444A-124A-74C43859F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141556" y="1912075"/>
              <a:ext cx="381000" cy="287235"/>
            </a:xfrm>
            <a:prstGeom prst="rect">
              <a:avLst/>
            </a:prstGeom>
          </p:spPr>
        </p:pic>
      </p:grpSp>
      <p:grpSp>
        <p:nvGrpSpPr>
          <p:cNvPr id="62" name="Group 8" descr="Private subnet group.">
            <a:extLst>
              <a:ext uri="{FF2B5EF4-FFF2-40B4-BE49-F238E27FC236}">
                <a16:creationId xmlns:a16="http://schemas.microsoft.com/office/drawing/2014/main" id="{BE2BA9AB-49AD-E902-58EE-FC468678A619}"/>
              </a:ext>
            </a:extLst>
          </p:cNvPr>
          <p:cNvGrpSpPr/>
          <p:nvPr/>
        </p:nvGrpSpPr>
        <p:grpSpPr>
          <a:xfrm>
            <a:off x="8126168" y="1914710"/>
            <a:ext cx="2471642" cy="3638683"/>
            <a:chOff x="4215623" y="2618865"/>
            <a:chExt cx="1765300" cy="889002"/>
          </a:xfrm>
        </p:grpSpPr>
        <p:sp>
          <p:nvSpPr>
            <p:cNvPr id="63" name="Rectangle 71">
              <a:extLst>
                <a:ext uri="{FF2B5EF4-FFF2-40B4-BE49-F238E27FC236}">
                  <a16:creationId xmlns:a16="http://schemas.microsoft.com/office/drawing/2014/main" id="{418F29D4-77AB-EE4B-9F6C-640101EB8021}"/>
                </a:ext>
              </a:extLst>
            </p:cNvPr>
            <p:cNvSpPr/>
            <p:nvPr/>
          </p:nvSpPr>
          <p:spPr>
            <a:xfrm>
              <a:off x="4215623" y="2618865"/>
              <a:ext cx="1765300" cy="889002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56320" name="Graphic 72" descr="Private subnet group icon. ">
              <a:extLst>
                <a:ext uri="{FF2B5EF4-FFF2-40B4-BE49-F238E27FC236}">
                  <a16:creationId xmlns:a16="http://schemas.microsoft.com/office/drawing/2014/main" id="{BAA96519-2D3B-B57C-EFDF-8EFDFFA71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4220728" y="2620850"/>
              <a:ext cx="259997" cy="85623"/>
            </a:xfrm>
            <a:prstGeom prst="rect">
              <a:avLst/>
            </a:prstGeom>
          </p:spPr>
        </p:pic>
      </p:grpSp>
      <p:sp>
        <p:nvSpPr>
          <p:cNvPr id="56355" name="CuadroTexto 56354">
            <a:extLst>
              <a:ext uri="{FF2B5EF4-FFF2-40B4-BE49-F238E27FC236}">
                <a16:creationId xmlns:a16="http://schemas.microsoft.com/office/drawing/2014/main" id="{0426D5A5-734C-EC88-28F1-A975B99140F7}"/>
              </a:ext>
            </a:extLst>
          </p:cNvPr>
          <p:cNvSpPr txBox="1"/>
          <p:nvPr/>
        </p:nvSpPr>
        <p:spPr>
          <a:xfrm>
            <a:off x="1488565" y="5591894"/>
            <a:ext cx="1420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Google Drive API</a:t>
            </a:r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6356" name="Graphic 17" descr="AWS Secrets Manager service icon.">
            <a:extLst>
              <a:ext uri="{FF2B5EF4-FFF2-40B4-BE49-F238E27FC236}">
                <a16:creationId xmlns:a16="http://schemas.microsoft.com/office/drawing/2014/main" id="{3FC955E8-D55A-8465-9579-2C9FD75FC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3405981" y="2258559"/>
            <a:ext cx="675473" cy="67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59" name="CuadroTexto 56358">
            <a:extLst>
              <a:ext uri="{FF2B5EF4-FFF2-40B4-BE49-F238E27FC236}">
                <a16:creationId xmlns:a16="http://schemas.microsoft.com/office/drawing/2014/main" id="{0F551875-5A46-7E88-E3B2-44DDC727C6F0}"/>
              </a:ext>
            </a:extLst>
          </p:cNvPr>
          <p:cNvSpPr txBox="1"/>
          <p:nvPr/>
        </p:nvSpPr>
        <p:spPr>
          <a:xfrm>
            <a:off x="3303565" y="2979594"/>
            <a:ext cx="8223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SM</a:t>
            </a:r>
          </a:p>
        </p:txBody>
      </p:sp>
      <p:sp>
        <p:nvSpPr>
          <p:cNvPr id="56360" name="Rectangle 31">
            <a:extLst>
              <a:ext uri="{FF2B5EF4-FFF2-40B4-BE49-F238E27FC236}">
                <a16:creationId xmlns:a16="http://schemas.microsoft.com/office/drawing/2014/main" id="{4E2569EE-2CD4-AB1E-5A39-D47D50322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1270" y="1982160"/>
            <a:ext cx="1819697" cy="3571238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56361" name="Graphic 74" descr="Public subnet group icon. ">
            <a:extLst>
              <a:ext uri="{FF2B5EF4-FFF2-40B4-BE49-F238E27FC236}">
                <a16:creationId xmlns:a16="http://schemas.microsoft.com/office/drawing/2014/main" id="{2FBE0C62-3069-FABE-3C13-4F8C08B682D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5423049" y="1973526"/>
            <a:ext cx="381000" cy="381000"/>
          </a:xfrm>
          <a:prstGeom prst="rect">
            <a:avLst/>
          </a:prstGeom>
        </p:spPr>
      </p:pic>
      <p:grpSp>
        <p:nvGrpSpPr>
          <p:cNvPr id="56362" name="Group 66" descr="Second Nat gateway resource icon, with the Nate gateway label below it. The resource is in Availability Zone 2.">
            <a:extLst>
              <a:ext uri="{FF2B5EF4-FFF2-40B4-BE49-F238E27FC236}">
                <a16:creationId xmlns:a16="http://schemas.microsoft.com/office/drawing/2014/main" id="{5C417CC8-380C-8C43-FECD-493A0A144A5B}"/>
              </a:ext>
            </a:extLst>
          </p:cNvPr>
          <p:cNvGrpSpPr/>
          <p:nvPr/>
        </p:nvGrpSpPr>
        <p:grpSpPr>
          <a:xfrm>
            <a:off x="5686451" y="4763209"/>
            <a:ext cx="1234766" cy="735786"/>
            <a:chOff x="3959051" y="3922713"/>
            <a:chExt cx="1234766" cy="735786"/>
          </a:xfrm>
        </p:grpSpPr>
        <p:sp>
          <p:nvSpPr>
            <p:cNvPr id="56363" name="TextBox 17">
              <a:extLst>
                <a:ext uri="{FF2B5EF4-FFF2-40B4-BE49-F238E27FC236}">
                  <a16:creationId xmlns:a16="http://schemas.microsoft.com/office/drawing/2014/main" id="{DB059707-259B-D25D-6579-27E41A93E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051" y="4381500"/>
              <a:ext cx="123476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NAT gateway</a:t>
              </a:r>
            </a:p>
          </p:txBody>
        </p:sp>
        <p:pic>
          <p:nvPicPr>
            <p:cNvPr id="56364" name="Graphic 35">
              <a:extLst>
                <a:ext uri="{FF2B5EF4-FFF2-40B4-BE49-F238E27FC236}">
                  <a16:creationId xmlns:a16="http://schemas.microsoft.com/office/drawing/2014/main" id="{906625EB-0D34-6E6D-FE25-69D03C5C5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 bwMode="auto">
            <a:xfrm>
              <a:off x="4355307" y="392271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6365" name="Graphic 63" descr="Internet gateway resource icon for the Amazon VPC service.&#10;">
            <a:extLst>
              <a:ext uri="{FF2B5EF4-FFF2-40B4-BE49-F238E27FC236}">
                <a16:creationId xmlns:a16="http://schemas.microsoft.com/office/drawing/2014/main" id="{16E410AE-9A86-47FC-FC62-6EF321DB5CA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57012" y="2836324"/>
            <a:ext cx="457200" cy="457200"/>
          </a:xfrm>
          <a:prstGeom prst="rect">
            <a:avLst/>
          </a:prstGeom>
        </p:spPr>
      </p:pic>
      <p:sp>
        <p:nvSpPr>
          <p:cNvPr id="56366" name="TextBox 12">
            <a:extLst>
              <a:ext uri="{FF2B5EF4-FFF2-40B4-BE49-F238E27FC236}">
                <a16:creationId xmlns:a16="http://schemas.microsoft.com/office/drawing/2014/main" id="{3664020E-2AB3-5CB2-EA66-5EB108417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960" y="3244331"/>
            <a:ext cx="1403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1030" name="Picture 6" descr="Google Drive - Wikipedia, la enciclopedia libre">
            <a:extLst>
              <a:ext uri="{FF2B5EF4-FFF2-40B4-BE49-F238E27FC236}">
                <a16:creationId xmlns:a16="http://schemas.microsoft.com/office/drawing/2014/main" id="{90F7904D-8A19-0F2E-3B14-2BF6D61A0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542" y="5028826"/>
            <a:ext cx="583678" cy="524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369" name="Conector recto 56368">
            <a:extLst>
              <a:ext uri="{FF2B5EF4-FFF2-40B4-BE49-F238E27FC236}">
                <a16:creationId xmlns:a16="http://schemas.microsoft.com/office/drawing/2014/main" id="{45E322E9-DD77-60AC-9330-9EC1DE47B5A5}"/>
              </a:ext>
            </a:extLst>
          </p:cNvPr>
          <p:cNvCxnSpPr>
            <a:cxnSpLocks/>
          </p:cNvCxnSpPr>
          <p:nvPr/>
        </p:nvCxnSpPr>
        <p:spPr>
          <a:xfrm>
            <a:off x="4783163" y="1461508"/>
            <a:ext cx="1231" cy="11116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2" descr="Line with no arrows.">
            <a:extLst>
              <a:ext uri="{FF2B5EF4-FFF2-40B4-BE49-F238E27FC236}">
                <a16:creationId xmlns:a16="http://schemas.microsoft.com/office/drawing/2014/main" id="{247AE7E5-735E-5D28-87C5-52DA37A38851}"/>
              </a:ext>
            </a:extLst>
          </p:cNvPr>
          <p:cNvCxnSpPr>
            <a:cxnSpLocks/>
          </p:cNvCxnSpPr>
          <p:nvPr/>
        </p:nvCxnSpPr>
        <p:spPr>
          <a:xfrm flipV="1">
            <a:off x="4784394" y="1455808"/>
            <a:ext cx="2933285" cy="570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Arrow Connector 12" descr="Line with no arrows.">
            <a:extLst>
              <a:ext uri="{FF2B5EF4-FFF2-40B4-BE49-F238E27FC236}">
                <a16:creationId xmlns:a16="http://schemas.microsoft.com/office/drawing/2014/main" id="{C46686F0-2B97-27BC-650F-6797070E89FE}"/>
              </a:ext>
            </a:extLst>
          </p:cNvPr>
          <p:cNvCxnSpPr>
            <a:cxnSpLocks/>
          </p:cNvCxnSpPr>
          <p:nvPr/>
        </p:nvCxnSpPr>
        <p:spPr>
          <a:xfrm>
            <a:off x="7353011" y="5032928"/>
            <a:ext cx="0" cy="861945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2" descr="Line with no arrows.">
            <a:extLst>
              <a:ext uri="{FF2B5EF4-FFF2-40B4-BE49-F238E27FC236}">
                <a16:creationId xmlns:a16="http://schemas.microsoft.com/office/drawing/2014/main" id="{B5DFD8BF-03AE-B8AA-3CE7-86A2B9340D0A}"/>
              </a:ext>
            </a:extLst>
          </p:cNvPr>
          <p:cNvCxnSpPr>
            <a:cxnSpLocks/>
          </p:cNvCxnSpPr>
          <p:nvPr/>
        </p:nvCxnSpPr>
        <p:spPr>
          <a:xfrm flipV="1">
            <a:off x="2092630" y="6029305"/>
            <a:ext cx="4158406" cy="1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Arrow Connector 14" descr="Arrow pointing left.">
            <a:extLst>
              <a:ext uri="{FF2B5EF4-FFF2-40B4-BE49-F238E27FC236}">
                <a16:creationId xmlns:a16="http://schemas.microsoft.com/office/drawing/2014/main" id="{9BC75799-2F46-22CE-6AF6-ACE644F6B2A7}"/>
              </a:ext>
            </a:extLst>
          </p:cNvPr>
          <p:cNvCxnSpPr>
            <a:cxnSpLocks/>
          </p:cNvCxnSpPr>
          <p:nvPr/>
        </p:nvCxnSpPr>
        <p:spPr>
          <a:xfrm>
            <a:off x="2094481" y="5879849"/>
            <a:ext cx="0" cy="149457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Arrow Connector 14" descr="Arrow pointing left.">
            <a:extLst>
              <a:ext uri="{FF2B5EF4-FFF2-40B4-BE49-F238E27FC236}">
                <a16:creationId xmlns:a16="http://schemas.microsoft.com/office/drawing/2014/main" id="{41006DF8-FF99-B36B-E035-9A098AD2A5E2}"/>
              </a:ext>
            </a:extLst>
          </p:cNvPr>
          <p:cNvCxnSpPr>
            <a:cxnSpLocks/>
          </p:cNvCxnSpPr>
          <p:nvPr/>
        </p:nvCxnSpPr>
        <p:spPr>
          <a:xfrm>
            <a:off x="4109675" y="2573127"/>
            <a:ext cx="674719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recto 1063">
            <a:extLst>
              <a:ext uri="{FF2B5EF4-FFF2-40B4-BE49-F238E27FC236}">
                <a16:creationId xmlns:a16="http://schemas.microsoft.com/office/drawing/2014/main" id="{8CBBC7F0-EBC3-5228-19BE-BB8BB3587BDA}"/>
              </a:ext>
            </a:extLst>
          </p:cNvPr>
          <p:cNvCxnSpPr>
            <a:cxnSpLocks/>
          </p:cNvCxnSpPr>
          <p:nvPr/>
        </p:nvCxnSpPr>
        <p:spPr>
          <a:xfrm flipH="1">
            <a:off x="6253734" y="5470535"/>
            <a:ext cx="14394" cy="5726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4" descr="Arrow pointing left.">
            <a:extLst>
              <a:ext uri="{FF2B5EF4-FFF2-40B4-BE49-F238E27FC236}">
                <a16:creationId xmlns:a16="http://schemas.microsoft.com/office/drawing/2014/main" id="{C870A8FB-82A5-E2B3-CB8B-8C43D8813BC7}"/>
              </a:ext>
            </a:extLst>
          </p:cNvPr>
          <p:cNvCxnSpPr>
            <a:cxnSpLocks/>
          </p:cNvCxnSpPr>
          <p:nvPr/>
        </p:nvCxnSpPr>
        <p:spPr>
          <a:xfrm>
            <a:off x="6614212" y="5032928"/>
            <a:ext cx="74640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4" descr="Arrow pointing left.">
            <a:extLst>
              <a:ext uri="{FF2B5EF4-FFF2-40B4-BE49-F238E27FC236}">
                <a16:creationId xmlns:a16="http://schemas.microsoft.com/office/drawing/2014/main" id="{BACBFF8F-5537-5315-73F5-E8147AB6E8D1}"/>
              </a:ext>
            </a:extLst>
          </p:cNvPr>
          <p:cNvCxnSpPr>
            <a:cxnSpLocks/>
          </p:cNvCxnSpPr>
          <p:nvPr/>
        </p:nvCxnSpPr>
        <p:spPr>
          <a:xfrm flipV="1">
            <a:off x="7717679" y="1426982"/>
            <a:ext cx="0" cy="4303411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Arrow Connector 12" descr="Line with no arrows.">
            <a:extLst>
              <a:ext uri="{FF2B5EF4-FFF2-40B4-BE49-F238E27FC236}">
                <a16:creationId xmlns:a16="http://schemas.microsoft.com/office/drawing/2014/main" id="{0823DD97-5ECB-A85B-D146-9C3C042EA277}"/>
              </a:ext>
            </a:extLst>
          </p:cNvPr>
          <p:cNvCxnSpPr>
            <a:cxnSpLocks/>
          </p:cNvCxnSpPr>
          <p:nvPr/>
        </p:nvCxnSpPr>
        <p:spPr>
          <a:xfrm>
            <a:off x="7360616" y="5879849"/>
            <a:ext cx="201678" cy="9586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lambda" descr="Lambda service icon.">
            <a:extLst>
              <a:ext uri="{FF2B5EF4-FFF2-40B4-BE49-F238E27FC236}">
                <a16:creationId xmlns:a16="http://schemas.microsoft.com/office/drawing/2014/main" id="{708D55D7-8042-1762-C4C6-A6EFC4619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7528979" y="5711026"/>
            <a:ext cx="433409" cy="433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384" name="Straight Arrow Connector 12" descr="Line with no arrows.">
            <a:extLst>
              <a:ext uri="{FF2B5EF4-FFF2-40B4-BE49-F238E27FC236}">
                <a16:creationId xmlns:a16="http://schemas.microsoft.com/office/drawing/2014/main" id="{7B9ABA8E-8AB2-7A00-9670-B08FCC3AA534}"/>
              </a:ext>
            </a:extLst>
          </p:cNvPr>
          <p:cNvCxnSpPr>
            <a:cxnSpLocks/>
          </p:cNvCxnSpPr>
          <p:nvPr/>
        </p:nvCxnSpPr>
        <p:spPr>
          <a:xfrm flipV="1">
            <a:off x="8835513" y="3880870"/>
            <a:ext cx="0" cy="2014003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87" name="Straight Arrow Connector 12" descr="Line with no arrows.">
            <a:extLst>
              <a:ext uri="{FF2B5EF4-FFF2-40B4-BE49-F238E27FC236}">
                <a16:creationId xmlns:a16="http://schemas.microsoft.com/office/drawing/2014/main" id="{8952D725-8A6F-AA61-EA91-C12B0F158D0F}"/>
              </a:ext>
            </a:extLst>
          </p:cNvPr>
          <p:cNvCxnSpPr>
            <a:cxnSpLocks/>
          </p:cNvCxnSpPr>
          <p:nvPr/>
        </p:nvCxnSpPr>
        <p:spPr>
          <a:xfrm>
            <a:off x="8006925" y="5879849"/>
            <a:ext cx="828588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3">
            <a:extLst>
              <a:ext uri="{FF2B5EF4-FFF2-40B4-BE49-F238E27FC236}">
                <a16:creationId xmlns:a16="http://schemas.microsoft.com/office/drawing/2014/main" id="{D1C56FB8-F0E8-1A96-E460-3C594FA89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3000" y="164512"/>
            <a:ext cx="10515600" cy="1325563"/>
          </a:xfrm>
        </p:spPr>
        <p:txBody>
          <a:bodyPr/>
          <a:lstStyle/>
          <a:p>
            <a:r>
              <a:rPr lang="en-US" altLang="en-US" dirty="0"/>
              <a:t>Arquitectura</a:t>
            </a:r>
          </a:p>
        </p:txBody>
      </p:sp>
    </p:spTree>
    <p:extLst>
      <p:ext uri="{BB962C8B-B14F-4D97-AF65-F5344CB8AC3E}">
        <p14:creationId xmlns:p14="http://schemas.microsoft.com/office/powerpoint/2010/main" val="27877197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419</Words>
  <Application>Microsoft Office PowerPoint</Application>
  <PresentationFormat>Panorámica</PresentationFormat>
  <Paragraphs>107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Base44 y AWS</vt:lpstr>
      <vt:lpstr>BASE 44</vt:lpstr>
      <vt:lpstr>Google Drive</vt:lpstr>
      <vt:lpstr>Google Drive API</vt:lpstr>
      <vt:lpstr>Google Sheets API</vt:lpstr>
      <vt:lpstr>Cognito</vt:lpstr>
      <vt:lpstr>Presentación de PowerPoint</vt:lpstr>
      <vt:lpstr>Arquitectura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GERMAN RAMIREZ</dc:creator>
  <cp:lastModifiedBy>GERMAN RAMIREZ</cp:lastModifiedBy>
  <cp:revision>1</cp:revision>
  <dcterms:created xsi:type="dcterms:W3CDTF">2026-01-30T12:08:32Z</dcterms:created>
  <dcterms:modified xsi:type="dcterms:W3CDTF">2026-01-30T19:07:24Z</dcterms:modified>
</cp:coreProperties>
</file>